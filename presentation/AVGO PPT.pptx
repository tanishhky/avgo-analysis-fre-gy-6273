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0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67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2"/>
    <p:restoredTop sz="94266"/>
  </p:normalViewPr>
  <p:slideViewPr>
    <p:cSldViewPr snapToGrid="0">
      <p:cViewPr>
        <p:scale>
          <a:sx n="135" d="100"/>
          <a:sy n="135" d="100"/>
        </p:scale>
        <p:origin x="30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98202-946C-B442-9750-AED710F42C60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12F2C-A984-0D49-B7F1-0A26E6E8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4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5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4D9F-33A6-BFFA-C242-8365E55C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B3E39-B222-4E37-3466-E42BC0A88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E8464-8B10-E893-394C-7788BC7C7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9D9D3-790F-1A92-3F35-46FE5251F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38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C939-8E1C-B865-17ED-CCF8C7492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4F53E-7765-EE33-B8C1-BE3FA066F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D52A4-0E44-5092-98B7-FBC51C9D6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3A0B4-435A-8748-A5D6-026C34C30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41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F2864-FAA0-5936-506F-8C1FBA8B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81C83-89AA-6EBF-17FC-96EC9B3B5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84E0A-198B-7245-DDAD-C09097AFE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37162-AD31-C130-22A6-051651313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0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A05E-C8C2-E7EE-82EB-D90EFD04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D69E5-255E-5CDF-1F95-EF7868685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FDA39-1985-4A73-AC44-B383B1A0E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DC521-E1F9-3C9C-8F19-5FCAD9DE9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02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6F41-2B8D-8413-2E57-CFECE0217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E2CC7-10BA-95D4-4F81-E3CBB56CE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BC7C1-B7F0-978F-B4FF-847BA1675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69191-4642-5A55-6B44-3EF614B3B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26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F344-92AC-824B-6FAF-E6D3F2199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A1EBA-7BEF-8122-C201-389BABC0D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AEBC0-A8F2-79C0-ECA7-345D6102F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E7D12-B8F7-EA7E-0584-B0046507B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70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657C8-CCF8-A31E-8C10-E546E7CC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DECCB-1181-EB4C-4489-612696598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D748B-3C84-4EA5-89AA-DD5009226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737C8-8F8A-DC44-AAF2-1410A11AB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44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69A2C-41FA-82BC-AB4A-9F63631E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D398D-67A7-5B79-0844-2988F9023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6898C-4571-D85E-AA52-FB7FE8C1D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63B8C-D6AE-45AF-5599-8F72EB732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78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3349-092F-4252-C074-B7B3FD8C5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BEEE5-85CB-D7FB-1BC3-D83D9F75C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868A3-47AF-FD7E-6DE3-F84EE6092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A43E2-8072-C237-F798-4BC3ABB01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6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CF40C-68CD-401F-008E-748E7F00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8F458-FBFB-CC8D-13E6-83CB0492A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1F152-C154-F812-6E12-7FE4FA2D7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BA011-9257-ECB5-20E6-36654427B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12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FD2B-08FD-9072-E436-094F8C70F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F1EF6-4D4D-5030-B2BD-0C8A8A52A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E7C00-7CAF-3041-E729-68373F5EC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E829D-88B8-4351-6EF2-5E766B4EB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32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1FF04-227C-1222-BAC4-ABB743A9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95895-9F07-3E97-65E7-33050F840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0E495-6712-9080-D259-221CA5D7A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F50BB-5C1E-9D8D-4EF1-2A414D9E5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670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79AB-1E74-BC17-A886-295FDD16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895C7-BF44-FA87-5881-7B14B7EFA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D7F4E-1CAA-52FB-D6D9-5C1FC2C85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8D1E2-6D09-6B09-C00F-31905F58E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12F2C-A984-0D49-B7F1-0A26E6E804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59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537A-205E-D64E-9317-04F3275DF058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35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ED57-9406-D849-A8E1-BC0A45CBC8B5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139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91E1-EEC6-F147-BC9F-D17AE9A9468B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329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9C85-2875-C94E-B2C2-0A1247932439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291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937D5-EC72-A84F-806B-DD97452B74CD}" type="datetime1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4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F5AD-AC38-1F42-A811-D634983452B1}" type="datetime1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743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D48F-34D3-8F49-83FF-3E992B1364F1}" type="datetime1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649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5EF-F3D9-E846-9DD4-D634DEDD448E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453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DBDB-AA62-8F41-8560-8113A5ADA1C9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438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9C33F-836F-6940-914E-4EC5DB656423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803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BB697-2C78-7B41-902B-BC7C671FF0C9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79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12160-DD7E-1B45-AB55-F6EB5305B7DB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04B4A-2E58-4D44-AFFE-843AD6CC6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3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ocess 22">
            <a:extLst>
              <a:ext uri="{FF2B5EF4-FFF2-40B4-BE49-F238E27FC236}">
                <a16:creationId xmlns:a16="http://schemas.microsoft.com/office/drawing/2014/main" id="{FDA46A28-F23B-54E2-D285-7149CDC3CFB8}"/>
              </a:ext>
            </a:extLst>
          </p:cNvPr>
          <p:cNvSpPr/>
          <p:nvPr/>
        </p:nvSpPr>
        <p:spPr>
          <a:xfrm>
            <a:off x="7335195" y="3147987"/>
            <a:ext cx="2641600" cy="1431361"/>
          </a:xfrm>
          <a:prstGeom prst="flowChartProcess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0BB01D-CBDE-69D6-D8DF-2670C06444C7}"/>
              </a:ext>
            </a:extLst>
          </p:cNvPr>
          <p:cNvSpPr/>
          <p:nvPr/>
        </p:nvSpPr>
        <p:spPr>
          <a:xfrm>
            <a:off x="0" y="111323"/>
            <a:ext cx="12192000" cy="13506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28DA79-271F-44AA-7BA8-73877E2E193B}"/>
              </a:ext>
            </a:extLst>
          </p:cNvPr>
          <p:cNvSpPr/>
          <p:nvPr/>
        </p:nvSpPr>
        <p:spPr>
          <a:xfrm>
            <a:off x="-4619" y="5024582"/>
            <a:ext cx="12196619" cy="18403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1D2FA1-773C-E8DC-5AB5-1FB602E45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436" y="1650409"/>
            <a:ext cx="7957128" cy="1074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49608F-2CA1-2A81-9CAA-026BFB153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82" y="5295899"/>
            <a:ext cx="1439899" cy="12977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7A8D97-90A1-967C-DAF9-95DFE7035F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2" y="325200"/>
            <a:ext cx="11490036" cy="9207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257D64-1295-E11C-D3AA-7AE13D3ABE29}"/>
              </a:ext>
            </a:extLst>
          </p:cNvPr>
          <p:cNvSpPr txBox="1"/>
          <p:nvPr/>
        </p:nvSpPr>
        <p:spPr>
          <a:xfrm>
            <a:off x="7432177" y="3245145"/>
            <a:ext cx="2456872" cy="5232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Lao MN" pitchFamily="2" charset="0"/>
                <a:ea typeface="ADLaM Display" panose="02010000000000000000" pitchFamily="2" charset="77"/>
                <a:cs typeface="Lao MN" pitchFamily="2" charset="0"/>
              </a:rPr>
              <a:t>BUY</a:t>
            </a:r>
            <a:endParaRPr lang="en-US" b="1" dirty="0">
              <a:solidFill>
                <a:schemeClr val="bg1"/>
              </a:solidFill>
              <a:latin typeface="Lao MN" pitchFamily="2" charset="0"/>
              <a:ea typeface="ADLaM Display" panose="02010000000000000000" pitchFamily="2" charset="77"/>
              <a:cs typeface="Lao MN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297C5F-28EA-EB71-C369-1B731125C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7490" y="5081153"/>
            <a:ext cx="7772400" cy="17271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9B7B11D-FC26-E925-538B-DF816F8F6DFD}"/>
              </a:ext>
            </a:extLst>
          </p:cNvPr>
          <p:cNvSpPr txBox="1"/>
          <p:nvPr/>
        </p:nvSpPr>
        <p:spPr>
          <a:xfrm>
            <a:off x="7067340" y="3748351"/>
            <a:ext cx="31865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Lao MN"/>
                <a:cs typeface="Lao MN" pitchFamily="2" charset="0"/>
              </a:rPr>
              <a:t>Target : $475</a:t>
            </a:r>
            <a:br>
              <a:rPr lang="en-US" sz="2400">
                <a:latin typeface="Lao MN" pitchFamily="2" charset="0"/>
                <a:cs typeface="Lao MN" pitchFamily="2" charset="0"/>
              </a:rPr>
            </a:br>
            <a:r>
              <a:rPr lang="en-US" sz="2400">
                <a:solidFill>
                  <a:schemeClr val="bg1"/>
                </a:solidFill>
                <a:latin typeface="Lao MN"/>
                <a:cs typeface="Lao MN" pitchFamily="2" charset="0"/>
              </a:rPr>
              <a:t>+19% upside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63B180-41EF-5848-6C44-4EA0BBB96E03}"/>
              </a:ext>
            </a:extLst>
          </p:cNvPr>
          <p:cNvSpPr txBox="1"/>
          <p:nvPr/>
        </p:nvSpPr>
        <p:spPr>
          <a:xfrm>
            <a:off x="2088942" y="3263487"/>
            <a:ext cx="4479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Ticker : </a:t>
            </a:r>
            <a:r>
              <a:rPr lang="en-US" sz="20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AVGO US Equity</a:t>
            </a:r>
            <a:br>
              <a:rPr lang="en-US" sz="20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endParaRPr lang="en-US" sz="1000" b="1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Spot Price : $399</a:t>
            </a:r>
          </a:p>
          <a:p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A</a:t>
            </a:r>
            <a:r>
              <a:rPr lang="en-US" sz="20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 NASDAQ </a:t>
            </a:r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Listed Firm</a:t>
            </a:r>
          </a:p>
          <a:p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Sector: Semiconductor &amp; Software</a:t>
            </a:r>
          </a:p>
        </p:txBody>
      </p:sp>
    </p:spTree>
    <p:extLst>
      <p:ext uri="{BB962C8B-B14F-4D97-AF65-F5344CB8AC3E}">
        <p14:creationId xmlns:p14="http://schemas.microsoft.com/office/powerpoint/2010/main" val="27168933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625ED-C385-5481-3C11-A87059C2F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22B8D1F-6881-519C-5A83-2CEB926F2960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4AFA67-AA3C-96D1-EE6A-42E3EFD3CC70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422FC3-3515-C4F4-88FE-7EF4A2B71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53" y="6106102"/>
            <a:ext cx="678828" cy="6117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2ACDBD1-7AB2-92E3-0EA4-658D704F8886}"/>
              </a:ext>
            </a:extLst>
          </p:cNvPr>
          <p:cNvSpPr txBox="1"/>
          <p:nvPr/>
        </p:nvSpPr>
        <p:spPr>
          <a:xfrm>
            <a:off x="767984" y="2178360"/>
            <a:ext cx="1978577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AI thesis is real &amp; multiple is defensible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Lao MN"/>
                <a:cs typeface="Lao MN" pitchFamily="2" charset="0"/>
              </a:rPr>
              <a:t> </a:t>
            </a:r>
          </a:p>
          <a:p>
            <a:pPr algn="ctr"/>
            <a:r>
              <a:rPr lang="en-US" sz="1600">
                <a:solidFill>
                  <a:schemeClr val="bg1">
                    <a:lumMod val="85000"/>
                  </a:schemeClr>
                </a:solidFill>
                <a:latin typeface="Lao MN" pitchFamily="2" charset="0"/>
                <a:cs typeface="Lao MN" pitchFamily="2" charset="0"/>
              </a:rPr>
              <a:t>6-customer XPU franchise;</a:t>
            </a:r>
          </a:p>
          <a:p>
            <a:pPr algn="ctr"/>
            <a:r>
              <a:rPr lang="en-US" sz="1600">
                <a:solidFill>
                  <a:schemeClr val="bg1">
                    <a:lumMod val="85000"/>
                  </a:schemeClr>
                </a:solidFill>
                <a:latin typeface="Lao MN"/>
                <a:cs typeface="Lao MN" pitchFamily="2" charset="0"/>
              </a:rPr>
              <a:t>22x forward P/E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1A4C2-F193-7D3D-7287-C811E3A34730}"/>
              </a:ext>
            </a:extLst>
          </p:cNvPr>
          <p:cNvSpPr txBox="1">
            <a:spLocks/>
          </p:cNvSpPr>
          <p:nvPr/>
        </p:nvSpPr>
        <p:spPr>
          <a:xfrm>
            <a:off x="833581" y="-610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Investment Thesis At-a-Glance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3D56D-B02E-7D46-7F8F-7EAA88946018}"/>
              </a:ext>
            </a:extLst>
          </p:cNvPr>
          <p:cNvSpPr txBox="1"/>
          <p:nvPr/>
        </p:nvSpPr>
        <p:spPr>
          <a:xfrm>
            <a:off x="2969645" y="2181691"/>
            <a:ext cx="1978577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Customer concentration is a real risk but rapidly diversifying </a:t>
            </a:r>
          </a:p>
          <a:p>
            <a:pPr algn="ctr"/>
            <a:endParaRPr lang="en-US" sz="240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algn="ctr"/>
            <a:r>
              <a:rPr lang="en-US" sz="1600">
                <a:solidFill>
                  <a:schemeClr val="bg1">
                    <a:lumMod val="85000"/>
                  </a:schemeClr>
                </a:solidFill>
                <a:latin typeface="Lao MN"/>
                <a:cs typeface="Lao MN" pitchFamily="2" charset="0"/>
              </a:rPr>
              <a:t>Google falls from 45% to 33% by FY27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519A7-0DF9-4783-7647-F91290EC3F2F}"/>
              </a:ext>
            </a:extLst>
          </p:cNvPr>
          <p:cNvSpPr txBox="1"/>
          <p:nvPr/>
        </p:nvSpPr>
        <p:spPr>
          <a:xfrm>
            <a:off x="5171306" y="2178360"/>
            <a:ext cx="19785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Margins are the </a:t>
            </a:r>
          </a:p>
          <a:p>
            <a:pPr algn="ctr"/>
            <a:r>
              <a:rPr lang="en-US" sz="180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upside surprise </a:t>
            </a:r>
          </a:p>
          <a:p>
            <a:pPr algn="ctr"/>
            <a:endParaRPr lang="en-US" sz="240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algn="ctr"/>
            <a:r>
              <a:rPr lang="en-US" sz="1600">
                <a:solidFill>
                  <a:schemeClr val="bg1">
                    <a:lumMod val="85000"/>
                  </a:schemeClr>
                </a:solidFill>
                <a:latin typeface="Lao MN" pitchFamily="2" charset="0"/>
                <a:cs typeface="Lao MN" pitchFamily="2" charset="0"/>
              </a:rPr>
              <a:t>Gross margin guided flat 77% through FY27</a:t>
            </a:r>
            <a:endParaRPr lang="en-US" sz="180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C17C90-D56D-A176-F150-9D6037A33FFC}"/>
              </a:ext>
            </a:extLst>
          </p:cNvPr>
          <p:cNvSpPr txBox="1"/>
          <p:nvPr/>
        </p:nvSpPr>
        <p:spPr>
          <a:xfrm>
            <a:off x="7372967" y="2178360"/>
            <a:ext cx="197857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Competitive moat wider than market gives credit</a:t>
            </a:r>
          </a:p>
          <a:p>
            <a:pPr algn="ctr"/>
            <a:endParaRPr lang="en-US" sz="240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algn="ctr"/>
            <a:r>
              <a:rPr lang="en-US" sz="1600">
                <a:solidFill>
                  <a:schemeClr val="bg1">
                    <a:lumMod val="85000"/>
                  </a:schemeClr>
                </a:solidFill>
                <a:latin typeface="Lao MN" pitchFamily="2" charset="0"/>
                <a:cs typeface="Lao MN" pitchFamily="2" charset="0"/>
              </a:rPr>
              <a:t>18-month design lead over COT (Zebrafish)</a:t>
            </a:r>
            <a:r>
              <a:rPr lang="en-US" sz="180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68AE49-2E22-4C3A-963B-E7D1A2111068}"/>
              </a:ext>
            </a:extLst>
          </p:cNvPr>
          <p:cNvSpPr txBox="1"/>
          <p:nvPr/>
        </p:nvSpPr>
        <p:spPr>
          <a:xfrm>
            <a:off x="9574628" y="2178360"/>
            <a:ext cx="170895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Six methods triangulate to $475</a:t>
            </a:r>
          </a:p>
          <a:p>
            <a:pPr algn="ctr"/>
            <a:endParaRPr lang="en-US" sz="240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algn="ctr"/>
            <a:r>
              <a:rPr lang="en-US">
                <a:solidFill>
                  <a:schemeClr val="bg1">
                    <a:lumMod val="85000"/>
                  </a:schemeClr>
                </a:solidFill>
                <a:latin typeface="Lao MN" pitchFamily="2" charset="0"/>
                <a:cs typeface="Lao MN" pitchFamily="2" charset="0"/>
              </a:rPr>
              <a:t>Modestly above Street median ($460)</a:t>
            </a:r>
            <a:endParaRPr lang="en-US" sz="180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90E825-ACD2-38B5-63CC-96A12E88BA6F}"/>
              </a:ext>
            </a:extLst>
          </p:cNvPr>
          <p:cNvCxnSpPr/>
          <p:nvPr/>
        </p:nvCxnSpPr>
        <p:spPr>
          <a:xfrm>
            <a:off x="2826460" y="2112885"/>
            <a:ext cx="0" cy="265412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993212-DB22-9670-6896-64B4395A46E6}"/>
              </a:ext>
            </a:extLst>
          </p:cNvPr>
          <p:cNvCxnSpPr/>
          <p:nvPr/>
        </p:nvCxnSpPr>
        <p:spPr>
          <a:xfrm>
            <a:off x="5029602" y="2112885"/>
            <a:ext cx="0" cy="265412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350E1C-BFDC-E894-A330-29C687E19319}"/>
              </a:ext>
            </a:extLst>
          </p:cNvPr>
          <p:cNvCxnSpPr/>
          <p:nvPr/>
        </p:nvCxnSpPr>
        <p:spPr>
          <a:xfrm>
            <a:off x="7213508" y="2112885"/>
            <a:ext cx="0" cy="265412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C0DDDB3-8D35-2D41-EE04-1F088F65BC88}"/>
              </a:ext>
            </a:extLst>
          </p:cNvPr>
          <p:cNvCxnSpPr/>
          <p:nvPr/>
        </p:nvCxnSpPr>
        <p:spPr>
          <a:xfrm>
            <a:off x="9432926" y="2112885"/>
            <a:ext cx="0" cy="265412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A69C1CC-BCD8-544A-A35B-1F472956E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1666C7-4893-A647-5C14-9DC3BB2A67D9}"/>
              </a:ext>
            </a:extLst>
          </p:cNvPr>
          <p:cNvSpPr txBox="1"/>
          <p:nvPr/>
        </p:nvSpPr>
        <p:spPr>
          <a:xfrm>
            <a:off x="11487607" y="6257385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87426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96827-35E2-6C56-0CD5-EF8BCB34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BFBFDB-060A-118C-50A9-356D384B73A1}"/>
              </a:ext>
            </a:extLst>
          </p:cNvPr>
          <p:cNvSpPr/>
          <p:nvPr/>
        </p:nvSpPr>
        <p:spPr>
          <a:xfrm>
            <a:off x="1344116" y="1499028"/>
            <a:ext cx="4021585" cy="527728"/>
          </a:xfrm>
          <a:prstGeom prst="roundRect">
            <a:avLst>
              <a:gd name="adj" fmla="val 31807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9D24AA-AD89-6061-AF13-2FF39F4C3DCC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9A46AA-E6EF-9AEB-21AF-C9F0331196EB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C29AB1-9294-E6C3-FC20-B6077268B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53" y="6106102"/>
            <a:ext cx="678828" cy="6117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8D84B7C-D98C-8733-C45F-50A8379E7728}"/>
              </a:ext>
            </a:extLst>
          </p:cNvPr>
          <p:cNvSpPr txBox="1"/>
          <p:nvPr/>
        </p:nvSpPr>
        <p:spPr>
          <a:xfrm>
            <a:off x="1676177" y="1600013"/>
            <a:ext cx="3357462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Semiconductor Solutions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00760-27D3-17CD-5CA4-086DF69337A4}"/>
              </a:ext>
            </a:extLst>
          </p:cNvPr>
          <p:cNvSpPr txBox="1">
            <a:spLocks/>
          </p:cNvSpPr>
          <p:nvPr/>
        </p:nvSpPr>
        <p:spPr>
          <a:xfrm>
            <a:off x="833581" y="-610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Business Overview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95F17F7-5FFA-5489-D86A-30F88601183C}"/>
              </a:ext>
            </a:extLst>
          </p:cNvPr>
          <p:cNvSpPr/>
          <p:nvPr/>
        </p:nvSpPr>
        <p:spPr>
          <a:xfrm>
            <a:off x="6879566" y="1499028"/>
            <a:ext cx="4021585" cy="527728"/>
          </a:xfrm>
          <a:prstGeom prst="roundRect">
            <a:avLst>
              <a:gd name="adj" fmla="val 28443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01358-688D-4D2E-0AD7-6B51FAD23785}"/>
              </a:ext>
            </a:extLst>
          </p:cNvPr>
          <p:cNvSpPr txBox="1"/>
          <p:nvPr/>
        </p:nvSpPr>
        <p:spPr>
          <a:xfrm>
            <a:off x="7211627" y="1600013"/>
            <a:ext cx="3357462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Infrastructure Software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47C02-6D97-8735-94F9-E911FD2E29D0}"/>
              </a:ext>
            </a:extLst>
          </p:cNvPr>
          <p:cNvSpPr txBox="1"/>
          <p:nvPr/>
        </p:nvSpPr>
        <p:spPr>
          <a:xfrm>
            <a:off x="1344116" y="2127741"/>
            <a:ext cx="44352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Scale: $40.0B (62% of FY25 Rev)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Products: Custom AI accelerators (XPUs), networking silicon, wireless, broadband, storage.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AI Shift: Cyclical legacy business transformed by $24B annualized AI run-rate (growing 100%+ YoY).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90F241-744A-6700-4519-714BA24F912C}"/>
              </a:ext>
            </a:extLst>
          </p:cNvPr>
          <p:cNvSpPr txBox="1"/>
          <p:nvPr/>
        </p:nvSpPr>
        <p:spPr>
          <a:xfrm>
            <a:off x="6672734" y="2127741"/>
            <a:ext cx="44352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Scale: $23.9B (38% of FY25 Rev)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Products: VMware Cloud Foundation, Symantec, CA mainframe.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Economics: 92%+ gross margin subscription model.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921E9-BBC6-1C13-A255-DF142F37BCF5}"/>
              </a:ext>
            </a:extLst>
          </p:cNvPr>
          <p:cNvSpPr txBox="1"/>
          <p:nvPr/>
        </p:nvSpPr>
        <p:spPr>
          <a:xfrm>
            <a:off x="1344116" y="5071029"/>
            <a:ext cx="10005065" cy="677108"/>
          </a:xfrm>
          <a:prstGeom prst="rect">
            <a:avLst/>
          </a:prstGeom>
          <a:noFill/>
          <a:ln w="38100"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The Broadcom Playbook (Hock Tan, CEO since 2006):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Serial M&amp;A → Strip overhead → Re-price to top enterprises. (5Y Rev CAGR: 23.5%)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49059D-C52B-EADC-91D0-051AB018F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28FD25-1C59-6328-19A9-DCEB7E62C834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8669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B0F9DD-9C14-FB91-AB31-B0F931F9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948F323-1C38-C2E2-E211-3463037B94A8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D06055-0D18-6629-F548-1190F2C412DD}"/>
              </a:ext>
            </a:extLst>
          </p:cNvPr>
          <p:cNvSpPr/>
          <p:nvPr/>
        </p:nvSpPr>
        <p:spPr>
          <a:xfrm>
            <a:off x="34591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7047E6-ECAA-554E-162F-B05FB20FC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2" y="6106102"/>
            <a:ext cx="678828" cy="6117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899510A-8FE4-B33E-5683-8B78F4B0B96C}"/>
              </a:ext>
            </a:extLst>
          </p:cNvPr>
          <p:cNvSpPr txBox="1"/>
          <p:nvPr/>
        </p:nvSpPr>
        <p:spPr>
          <a:xfrm>
            <a:off x="713419" y="1566273"/>
            <a:ext cx="44998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Six Committed XPU Customers:</a:t>
            </a:r>
          </a:p>
          <a:p>
            <a:endParaRPr lang="en-US" sz="20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Google (TPU): </a:t>
            </a: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The anchor program ($27B → $35B in FY27).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b="1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Anthropic: </a:t>
            </a: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Explodes to $42B in FY27 via Google Cloud (largest contributor).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Meta (MTIA): </a:t>
            </a: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Extended through 2029 (multi-GW).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600" b="1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OpenAI:</a:t>
            </a: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 10-GW co-design deal  </a:t>
            </a:r>
            <a:b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($3B → $10B).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110352-A910-0EBC-A50A-6B77329B89B1}"/>
              </a:ext>
            </a:extLst>
          </p:cNvPr>
          <p:cNvSpPr txBox="1">
            <a:spLocks/>
          </p:cNvSpPr>
          <p:nvPr/>
        </p:nvSpPr>
        <p:spPr>
          <a:xfrm>
            <a:off x="773500" y="0"/>
            <a:ext cx="1063576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The AI Customer Story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F4BD0E-3C90-6C19-FC06-432F7FA35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17" y="1566273"/>
            <a:ext cx="5656145" cy="2544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785EBC-FCE3-078E-69F3-63CD3934C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358793"/>
            <a:ext cx="611794" cy="6117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C02B47-49AD-B785-CA45-878032969D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966" y="4358793"/>
            <a:ext cx="611794" cy="6117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2BC1C-B7EC-8550-BAEB-F5138F890F7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004" t="13004" r="13019" b="13019"/>
          <a:stretch>
            <a:fillRect/>
          </a:stretch>
        </p:blipFill>
        <p:spPr>
          <a:xfrm>
            <a:off x="7885932" y="4370800"/>
            <a:ext cx="611793" cy="6117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8CC2BB-571B-A586-D16E-79EC3AAA1D4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057" t="19329" r="19329" b="20057"/>
          <a:stretch>
            <a:fillRect/>
          </a:stretch>
        </p:blipFill>
        <p:spPr>
          <a:xfrm>
            <a:off x="8772536" y="4365570"/>
            <a:ext cx="611793" cy="6117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E1D889-0BA7-B617-611B-C7D4780127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4985" y="4358793"/>
            <a:ext cx="611793" cy="6117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5645DB-C72E-7E42-EC98-BBFEA8B386C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2362" t="27790" r="32462" b="27376"/>
          <a:stretch>
            <a:fillRect/>
          </a:stretch>
        </p:blipFill>
        <p:spPr>
          <a:xfrm>
            <a:off x="10517434" y="4358793"/>
            <a:ext cx="611793" cy="6027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8122DBB-E2AC-33AF-1F7A-6B87709F997F}"/>
              </a:ext>
            </a:extLst>
          </p:cNvPr>
          <p:cNvSpPr txBox="1"/>
          <p:nvPr/>
        </p:nvSpPr>
        <p:spPr>
          <a:xfrm>
            <a:off x="1053975" y="5500113"/>
            <a:ext cx="10695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Management’s FY27 “$100B+” AI revenue guide is fully supported by the XPU portfolio effect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C18CB9D-66BC-8F65-380F-C209966A02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52BD966-D48C-8A5F-9600-0C2F69CC234B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26775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54CE5-4994-BCFA-ADA1-BD47F2774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BAC1624-3F97-0233-5AB8-9CD615A902CB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C6775-C773-63E3-2296-57D7927DBE27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B52791-CE0F-7EBA-9D6B-59736E4F7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53" y="6106102"/>
            <a:ext cx="678828" cy="6117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8DE08BA-2C96-6655-EA8A-30633781B16B}"/>
              </a:ext>
            </a:extLst>
          </p:cNvPr>
          <p:cNvSpPr txBox="1"/>
          <p:nvPr/>
        </p:nvSpPr>
        <p:spPr>
          <a:xfrm>
            <a:off x="685801" y="2117912"/>
            <a:ext cx="39971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0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Oct 2025: </a:t>
            </a:r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OpenAI 10-GW custom XPU partnership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0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Apr 2026: </a:t>
            </a:r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Anthropic 3.5-GW 3-way deal via Google Cloud.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0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Apr 2026: </a:t>
            </a:r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Meta MTIA extended through 2029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0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EA841-EC35-BA3D-3AE5-593F9DDF77F0}"/>
              </a:ext>
            </a:extLst>
          </p:cNvPr>
          <p:cNvSpPr txBox="1">
            <a:spLocks/>
          </p:cNvSpPr>
          <p:nvPr/>
        </p:nvSpPr>
        <p:spPr>
          <a:xfrm>
            <a:off x="833581" y="-610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Recent Strategic Catalysts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9A58C-7BAF-14B0-820A-4B33B4514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324" y="1984263"/>
            <a:ext cx="6351857" cy="31296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B66E9E-6CA9-4444-CC0A-B3340E258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E7121B-AB55-356E-C9E3-151EDDC5E81D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08391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8EC65-F49E-B858-7538-5E837E38F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3FB218F-3BC8-C95F-5A41-B7FD0E7330D0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1416F0-4B5C-4C98-D014-EDA35F09D6FD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6A28B6-70A8-D63A-6603-907C5167B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53" y="6106102"/>
            <a:ext cx="678828" cy="6117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5D27D27-3F87-0AD0-1179-063912287837}"/>
              </a:ext>
            </a:extLst>
          </p:cNvPr>
          <p:cNvSpPr txBox="1"/>
          <p:nvPr/>
        </p:nvSpPr>
        <p:spPr>
          <a:xfrm>
            <a:off x="833581" y="1930702"/>
            <a:ext cx="330430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Top-Line Growth (41% AI CAGR)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FY26E: $105B (+64% YoY)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FY27E: $163B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FY30E: $ 292B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1A3843-A77E-40D9-FAC3-1457F05C3D6D}"/>
              </a:ext>
            </a:extLst>
          </p:cNvPr>
          <p:cNvSpPr txBox="1">
            <a:spLocks/>
          </p:cNvSpPr>
          <p:nvPr/>
        </p:nvSpPr>
        <p:spPr>
          <a:xfrm>
            <a:off x="833581" y="-610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Financial Trajectory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8562D0-F94A-7930-536A-4244C5C3E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611" y="1930702"/>
            <a:ext cx="6879570" cy="3406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1248F4-3B1F-1D19-B291-21DFB6CC0D92}"/>
              </a:ext>
            </a:extLst>
          </p:cNvPr>
          <p:cNvSpPr txBox="1"/>
          <p:nvPr/>
        </p:nvSpPr>
        <p:spPr>
          <a:xfrm>
            <a:off x="833581" y="3674852"/>
            <a:ext cx="330430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Margin Expansion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EBITDA expands from 67.7% today to 72% by Fy2030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Reversal of rack-scale margin warning was the largest Q1 positive surprise.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DDB88-D022-E14A-31E7-2E081438D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495128-B869-22BF-5D6B-80E243570195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57688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672DE-98A7-6C95-5C9B-42D2A84D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2AF53E5-EB96-D3D1-06D2-0B34F2D60489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C4B1D4-27FB-3A94-CFD9-FB0CD3257B24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119EC0-6249-B292-9D30-785D7B617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53" y="6106102"/>
            <a:ext cx="678828" cy="611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057E8-27B7-E3CE-634A-91D31E535ADC}"/>
              </a:ext>
            </a:extLst>
          </p:cNvPr>
          <p:cNvSpPr txBox="1">
            <a:spLocks/>
          </p:cNvSpPr>
          <p:nvPr/>
        </p:nvSpPr>
        <p:spPr>
          <a:xfrm>
            <a:off x="833581" y="-610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Valuation Framework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3DE6A-8E22-6A76-40C9-E25FE470B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88F800-2C2C-3E6C-A64F-5863E4551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78" y="1820797"/>
            <a:ext cx="11367243" cy="37315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0E68AB-CEC7-EEC5-A039-909846CA0106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67688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D2EDC-8F5C-FA96-DEF6-0C537988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622CE1B-247E-59B0-D6D5-8527082CA27A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8277B2-269A-18DA-00F0-24594DE05DE3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4483D0-92CB-B314-4032-DAD6CD1DD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" y="6106102"/>
            <a:ext cx="678828" cy="611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E44219-FF18-379D-C2AC-B1743AACB358}"/>
              </a:ext>
            </a:extLst>
          </p:cNvPr>
          <p:cNvSpPr txBox="1">
            <a:spLocks/>
          </p:cNvSpPr>
          <p:nvPr/>
        </p:nvSpPr>
        <p:spPr>
          <a:xfrm>
            <a:off x="833581" y="-610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DCF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0E19A-EF54-041A-614B-558A5D0D7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329" y="1361149"/>
            <a:ext cx="5951313" cy="4461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7D620A-9007-77CA-6BAB-0D85A78A2411}"/>
              </a:ext>
            </a:extLst>
          </p:cNvPr>
          <p:cNvSpPr txBox="1"/>
          <p:nvPr/>
        </p:nvSpPr>
        <p:spPr>
          <a:xfrm>
            <a:off x="833581" y="1514928"/>
            <a:ext cx="330430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WACC Build (9.50%)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16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R</a:t>
            </a:r>
            <a:r>
              <a:rPr lang="en-US" sz="1600" baseline="-25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f </a:t>
            </a: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: 4.31% (10Y T-Note)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ERP: 5.0%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Beta: 1.20 (2Y weekly)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Cost of Debt: 5.0% (pre-tax)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Terminal Growth: 3.0%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B670E-E016-D355-8BF1-006D049E700C}"/>
              </a:ext>
            </a:extLst>
          </p:cNvPr>
          <p:cNvSpPr txBox="1"/>
          <p:nvPr/>
        </p:nvSpPr>
        <p:spPr>
          <a:xfrm>
            <a:off x="833581" y="3661086"/>
            <a:ext cx="330430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Result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16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Base Case: $436 per share.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Sensitivity: $402–$474 range at ±50bps WACC.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Caveat: Terminal value is 80% of EV.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AD6ACB-F0FF-706C-11AC-79CF4F49B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1F3AD1-D59C-3E9A-CF1F-8DDF207BE5C3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63370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75290-3FCA-201C-6BC1-2C6042956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27E2BA9-9D96-FDB3-9EB1-40242B7E6F86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36854B-6FFC-65BE-A0AE-B4117AD37C62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8EE65-E1E5-CD3D-EE10-959DB5EBB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" y="6106102"/>
            <a:ext cx="678828" cy="611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154298-BCDB-9026-0B29-F5CD138CDADD}"/>
              </a:ext>
            </a:extLst>
          </p:cNvPr>
          <p:cNvSpPr txBox="1">
            <a:spLocks/>
          </p:cNvSpPr>
          <p:nvPr/>
        </p:nvSpPr>
        <p:spPr>
          <a:xfrm>
            <a:off x="833581" y="-610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SOTP &amp; Comps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E7BBE7-8B45-88C6-D4CD-43485D42A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959702"/>
              </p:ext>
            </p:extLst>
          </p:nvPr>
        </p:nvGraphicFramePr>
        <p:xfrm>
          <a:off x="833581" y="1831102"/>
          <a:ext cx="4664566" cy="1849120"/>
        </p:xfrm>
        <a:graphic>
          <a:graphicData uri="http://schemas.openxmlformats.org/drawingml/2006/table">
            <a:tbl>
              <a:tblPr firstRow="1" lastRow="1">
                <a:tableStyleId>{5C22544A-7EE6-4342-B048-85BDC9FD1C3A}</a:tableStyleId>
              </a:tblPr>
              <a:tblGrid>
                <a:gridCol w="3135104">
                  <a:extLst>
                    <a:ext uri="{9D8B030D-6E8A-4147-A177-3AD203B41FA5}">
                      <a16:colId xmlns:a16="http://schemas.microsoft.com/office/drawing/2014/main" val="2293105371"/>
                    </a:ext>
                  </a:extLst>
                </a:gridCol>
                <a:gridCol w="692468">
                  <a:extLst>
                    <a:ext uri="{9D8B030D-6E8A-4147-A177-3AD203B41FA5}">
                      <a16:colId xmlns:a16="http://schemas.microsoft.com/office/drawing/2014/main" val="3279099835"/>
                    </a:ext>
                  </a:extLst>
                </a:gridCol>
                <a:gridCol w="836994">
                  <a:extLst>
                    <a:ext uri="{9D8B030D-6E8A-4147-A177-3AD203B41FA5}">
                      <a16:colId xmlns:a16="http://schemas.microsoft.com/office/drawing/2014/main" val="2396122725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Sum-of-the-Parts (Mid: $401)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239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Segment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Mult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Val ($)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81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Semi (EBITDA 62%)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20x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$321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6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Software (EBITDA 77%)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17x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$482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596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Implied Price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$ 401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71781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E92FBB-D1FE-5669-2700-F0B8BCDFC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051865"/>
              </p:ext>
            </p:extLst>
          </p:nvPr>
        </p:nvGraphicFramePr>
        <p:xfrm>
          <a:off x="6693855" y="1831102"/>
          <a:ext cx="4664566" cy="1478280"/>
        </p:xfrm>
        <a:graphic>
          <a:graphicData uri="http://schemas.openxmlformats.org/drawingml/2006/table">
            <a:tbl>
              <a:tblPr firstRow="1" lastRow="1">
                <a:tableStyleId>{5C22544A-7EE6-4342-B048-85BDC9FD1C3A}</a:tableStyleId>
              </a:tblPr>
              <a:tblGrid>
                <a:gridCol w="3135104">
                  <a:extLst>
                    <a:ext uri="{9D8B030D-6E8A-4147-A177-3AD203B41FA5}">
                      <a16:colId xmlns:a16="http://schemas.microsoft.com/office/drawing/2014/main" val="2293105371"/>
                    </a:ext>
                  </a:extLst>
                </a:gridCol>
                <a:gridCol w="692468">
                  <a:extLst>
                    <a:ext uri="{9D8B030D-6E8A-4147-A177-3AD203B41FA5}">
                      <a16:colId xmlns:a16="http://schemas.microsoft.com/office/drawing/2014/main" val="3279099835"/>
                    </a:ext>
                  </a:extLst>
                </a:gridCol>
                <a:gridCol w="836994">
                  <a:extLst>
                    <a:ext uri="{9D8B030D-6E8A-4147-A177-3AD203B41FA5}">
                      <a16:colId xmlns:a16="http://schemas.microsoft.com/office/drawing/2014/main" val="2396122725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Trading Comps (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Fwd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P/E Mid: $414)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239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Multiple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Ratio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Val ($)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81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Fwd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P/E (on $18.83)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22x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$414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6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Implied Price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$ 414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7178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AE459F-8C7B-871E-8AA4-3B66F1D1D284}"/>
              </a:ext>
            </a:extLst>
          </p:cNvPr>
          <p:cNvSpPr txBox="1"/>
          <p:nvPr/>
        </p:nvSpPr>
        <p:spPr>
          <a:xfrm>
            <a:off x="833581" y="3969843"/>
            <a:ext cx="48507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Separates hardware (NVIDIA/AMD comps) from mature SaaS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50B21-52FD-D390-BEA8-D9B9C87BFDD8}"/>
              </a:ext>
            </a:extLst>
          </p:cNvPr>
          <p:cNvSpPr txBox="1"/>
          <p:nvPr/>
        </p:nvSpPr>
        <p:spPr>
          <a:xfrm>
            <a:off x="6600746" y="3969821"/>
            <a:ext cx="48507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Peer median </a:t>
            </a:r>
            <a:r>
              <a:rPr lang="en-US" dirty="0" err="1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Fwd</a:t>
            </a:r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 P/E is 28.3x; we apply a conservative 22x.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Peer median EV/EBITDA skewed by AMD/MRVL (31.8x).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759FA-A853-68A3-7666-F48FF85D7C27}"/>
              </a:ext>
            </a:extLst>
          </p:cNvPr>
          <p:cNvSpPr txBox="1"/>
          <p:nvPr/>
        </p:nvSpPr>
        <p:spPr>
          <a:xfrm>
            <a:off x="1298290" y="5461257"/>
            <a:ext cx="958618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Both relative methods cluster between $400 and $440, supporting the DCF base case.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E9EA15-CA46-ED3F-3F8B-53F32169A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820E34-ACB2-E92E-0344-1DA4F85A287B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20856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E4B5E-7EFC-0404-CB70-9B7C5BE5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A4FBD39-8C8E-796D-18A7-4C45D5980890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D9850D-9AD7-728D-51E8-AF04F29654D8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F6E60C-6F37-1F3F-C827-03A65F8C8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" y="6106102"/>
            <a:ext cx="678828" cy="611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AB288D-F4D8-4460-1496-9A549A5F8AE9}"/>
              </a:ext>
            </a:extLst>
          </p:cNvPr>
          <p:cNvSpPr txBox="1">
            <a:spLocks/>
          </p:cNvSpPr>
          <p:nvPr/>
        </p:nvSpPr>
        <p:spPr>
          <a:xfrm>
            <a:off x="833581" y="-610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Monte Carlo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0F964-EED5-43F1-DD63-DC32AA9C8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889" y="1811747"/>
            <a:ext cx="7772400" cy="3531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AD4421-4B60-BEC6-5609-ACC4E118BADE}"/>
              </a:ext>
            </a:extLst>
          </p:cNvPr>
          <p:cNvSpPr txBox="1"/>
          <p:nvPr/>
        </p:nvSpPr>
        <p:spPr>
          <a:xfrm>
            <a:off x="833581" y="1811747"/>
            <a:ext cx="330430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10,000 Paths with 6 Inputs</a:t>
            </a:r>
            <a:endParaRPr lang="en-US" sz="14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en-US" sz="1400" b="1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FY27 AI Rev:</a:t>
            </a: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 Normal($125B, $25B) - Anchors on Street median.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Terminal g:</a:t>
            </a: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 Normal(3.0%, 0.5%)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WACC:</a:t>
            </a: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 Normal(9.5%, 0.5%)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930FD-D1AA-8BE5-505D-77A7091D4C0D}"/>
              </a:ext>
            </a:extLst>
          </p:cNvPr>
          <p:cNvSpPr txBox="1"/>
          <p:nvPr/>
        </p:nvSpPr>
        <p:spPr>
          <a:xfrm>
            <a:off x="833581" y="4050410"/>
            <a:ext cx="330430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Result</a:t>
            </a:r>
            <a:endParaRPr lang="en-US" sz="14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Mean: $471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P25 / P75: $378 / $544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Probability &gt; Spot: </a:t>
            </a:r>
            <a:r>
              <a:rPr lang="en-US" sz="16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68.3%</a:t>
            </a:r>
            <a:endParaRPr lang="en-US" sz="1400" b="1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88631-050E-AF5F-1942-3F2502239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18FADE-8DF2-FC2F-F9E1-FA160B085BBD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88056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5FEDE-5B11-254C-6599-6A2D9CFEC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A90BAAB-2DD5-8725-DDFF-A3A890CFF807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F2F247-1144-03B7-9509-EE567E5AFD64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141877-0304-CFD0-61F6-41B9CAD82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" y="6106102"/>
            <a:ext cx="678828" cy="611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2C9EBD-C16F-3CBE-5791-A6C147B9DEC9}"/>
              </a:ext>
            </a:extLst>
          </p:cNvPr>
          <p:cNvSpPr txBox="1">
            <a:spLocks/>
          </p:cNvSpPr>
          <p:nvPr/>
        </p:nvSpPr>
        <p:spPr>
          <a:xfrm>
            <a:off x="833581" y="-610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Football Field Synthesis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227A08-1FEE-CE4C-C1B5-2F99C44D2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41" y="1527858"/>
            <a:ext cx="7418109" cy="40198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7150B6-659A-D1F0-134C-21031344A96D}"/>
              </a:ext>
            </a:extLst>
          </p:cNvPr>
          <p:cNvSpPr txBox="1"/>
          <p:nvPr/>
        </p:nvSpPr>
        <p:spPr>
          <a:xfrm>
            <a:off x="503549" y="1566273"/>
            <a:ext cx="34651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Ranges: </a:t>
            </a:r>
            <a:br>
              <a:rPr lang="en-US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- </a:t>
            </a:r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DCF: $402–474</a:t>
            </a:r>
            <a:b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- SOTP: $321–482</a:t>
            </a:r>
            <a:b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- Comps </a:t>
            </a:r>
            <a:r>
              <a:rPr lang="en-US" dirty="0" err="1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Fwd</a:t>
            </a:r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 P/E: $339–490.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Convergence: </a:t>
            </a:r>
            <a:br>
              <a:rPr lang="en-US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Six methods cluster in the $400–$510 range.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b="1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Conclusion: </a:t>
            </a:r>
            <a:br>
              <a:rPr lang="en-US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$475 PT anchors on the Monte Carlo mean ($471) plus right-tail premium</a:t>
            </a:r>
            <a:r>
              <a:rPr lang="en-US" dirty="0"/>
              <a:t>.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B3A4C9-35D4-1175-4642-1644B7B44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477764-1966-C2CD-2D2E-C515761AA6C6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70403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24790-8B19-F0DB-3D39-95F283F5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C034B78-2920-AE78-78CF-7EF3B5C5FB28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CF80A4-10C2-F7DA-AFA6-7BE328673F79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5127BD-CED0-6E79-7783-A59708EEB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" y="6106102"/>
            <a:ext cx="678828" cy="611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203D8B-C4BC-9FEF-C273-9F3915AAE402}"/>
              </a:ext>
            </a:extLst>
          </p:cNvPr>
          <p:cNvSpPr txBox="1">
            <a:spLocks/>
          </p:cNvSpPr>
          <p:nvPr/>
        </p:nvSpPr>
        <p:spPr>
          <a:xfrm>
            <a:off x="833581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Risk Framework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AA5C4B-5400-418B-A900-ACCE7034B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318" y="1566273"/>
            <a:ext cx="6528864" cy="41369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544A03-DCBF-106D-1938-DAEFEAEC0083}"/>
              </a:ext>
            </a:extLst>
          </p:cNvPr>
          <p:cNvSpPr txBox="1"/>
          <p:nvPr/>
        </p:nvSpPr>
        <p:spPr>
          <a:xfrm>
            <a:off x="833581" y="1802503"/>
            <a:ext cx="363472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Top-Right Risks (High Prob/Impact)</a:t>
            </a:r>
            <a:endParaRPr lang="en-US" sz="1400" b="1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b="1" dirty="0" err="1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Hyperscaler</a:t>
            </a:r>
            <a:r>
              <a:rPr lang="en-US" sz="14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 Capex:</a:t>
            </a:r>
            <a:br>
              <a:rPr lang="en-US" sz="14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Coordinated Google/Meta/MSFT pullback compresses multiple and revenue (30% downside modeled).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Customer Concentration:</a:t>
            </a:r>
            <a:br>
              <a:rPr lang="en-US" sz="14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Google + Anthropic ∼60% of FY27 AI </a:t>
            </a:r>
            <a:r>
              <a:rPr lang="en-US" sz="1400" dirty="0" err="1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mix.Beta</a:t>
            </a: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: 1.20 (2Y weekly)</a:t>
            </a:r>
            <a:b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endParaRPr lang="en-US" sz="14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AI Bubble Revaluation: </a:t>
            </a:r>
            <a:b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AVGO highly exposed to multiple compression given 80% terminal value share.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13C4D-FE4E-C8B4-D45E-E059B18C2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72EF79-D8AC-A6FE-4A90-C2B2BF3A88A3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26139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90CAE-3F13-D6AD-5180-1BB329BD0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0552F85-F407-0516-C8EB-2012667DD698}"/>
              </a:ext>
            </a:extLst>
          </p:cNvPr>
          <p:cNvSpPr/>
          <p:nvPr/>
        </p:nvSpPr>
        <p:spPr>
          <a:xfrm>
            <a:off x="-4619" y="240710"/>
            <a:ext cx="12192000" cy="14194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F38E41-78DD-61AE-B498-6AA009149757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0EECA9-AF97-93A5-60D2-1E352FEF0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" y="6106102"/>
            <a:ext cx="678828" cy="611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1B17C1-E90E-45E6-1EF5-3F8A351588E9}"/>
              </a:ext>
            </a:extLst>
          </p:cNvPr>
          <p:cNvSpPr txBox="1">
            <a:spLocks/>
          </p:cNvSpPr>
          <p:nvPr/>
        </p:nvSpPr>
        <p:spPr>
          <a:xfrm>
            <a:off x="833581" y="3716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Catalyst Calendar &amp; What would change our view?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6F5584-E84D-1C2E-FD66-347EF88AF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372746"/>
              </p:ext>
            </p:extLst>
          </p:nvPr>
        </p:nvGraphicFramePr>
        <p:xfrm>
          <a:off x="1874897" y="2047479"/>
          <a:ext cx="8432968" cy="1854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01528">
                  <a:extLst>
                    <a:ext uri="{9D8B030D-6E8A-4147-A177-3AD203B41FA5}">
                      <a16:colId xmlns:a16="http://schemas.microsoft.com/office/drawing/2014/main" val="4131381598"/>
                    </a:ext>
                  </a:extLst>
                </a:gridCol>
                <a:gridCol w="6831440">
                  <a:extLst>
                    <a:ext uri="{9D8B030D-6E8A-4147-A177-3AD203B41FA5}">
                      <a16:colId xmlns:a16="http://schemas.microsoft.com/office/drawing/2014/main" val="89356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Catalyst 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98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5-Jun-2026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Q2 earnings — AI revenue actuals vs. $10.7B guide.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98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H2-2026 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TPU Sunfish 3nm volume ramp + OpenAI rack deployments.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2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4-Sep-2026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Q3 earnings — First framing commentary on FY27.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538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Dec-2026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Q4 + FY27 Guide — Critical print to validate $100B+ AI floor.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131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9BE3FD6-3AF7-CD75-9812-0B9F795C76BF}"/>
              </a:ext>
            </a:extLst>
          </p:cNvPr>
          <p:cNvSpPr txBox="1"/>
          <p:nvPr/>
        </p:nvSpPr>
        <p:spPr>
          <a:xfrm>
            <a:off x="1524094" y="4342171"/>
            <a:ext cx="9134574" cy="132343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 algn="ctr"/>
            <a:br>
              <a:rPr lang="en-US" sz="20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sz="20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What would move us off BUY: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Spot breaks $475 | FY27 AI guide &lt; $100B | Google share-loss to Zebrafish</a:t>
            </a:r>
            <a:b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endParaRPr lang="en-US" sz="2000" dirty="0">
              <a:solidFill>
                <a:schemeClr val="bg1"/>
              </a:solidFill>
              <a:latin typeface="Lao MN" pitchFamily="2" charset="0"/>
              <a:cs typeface="Lao MN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7242ED-2202-EF10-9895-798462DCE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88056E-9AA0-67D5-0459-81B0D3DCEC1F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28292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AF179-C46C-F152-DC41-BD7B56C6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135A04-5F4F-31FD-9DFD-4FDC3367C2F6}"/>
              </a:ext>
            </a:extLst>
          </p:cNvPr>
          <p:cNvSpPr/>
          <p:nvPr/>
        </p:nvSpPr>
        <p:spPr>
          <a:xfrm>
            <a:off x="1606909" y="2109547"/>
            <a:ext cx="8968940" cy="13194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C44574-45E1-7A58-89C7-52A15B084886}"/>
              </a:ext>
            </a:extLst>
          </p:cNvPr>
          <p:cNvSpPr/>
          <p:nvPr/>
        </p:nvSpPr>
        <p:spPr>
          <a:xfrm>
            <a:off x="-4619" y="240710"/>
            <a:ext cx="12192000" cy="920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8BA067-D359-C99D-B131-D7C4F5C8CDBA}"/>
              </a:ext>
            </a:extLst>
          </p:cNvPr>
          <p:cNvSpPr/>
          <p:nvPr/>
        </p:nvSpPr>
        <p:spPr>
          <a:xfrm>
            <a:off x="-4619" y="6106102"/>
            <a:ext cx="12196619" cy="6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BC9A0D-5598-5967-9C81-F2CBA91F7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" y="6106102"/>
            <a:ext cx="678828" cy="6117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B6BCFE5-DC22-CFD3-53F6-054B140E2138}"/>
              </a:ext>
            </a:extLst>
          </p:cNvPr>
          <p:cNvSpPr txBox="1"/>
          <p:nvPr/>
        </p:nvSpPr>
        <p:spPr>
          <a:xfrm>
            <a:off x="3410502" y="1463216"/>
            <a:ext cx="5361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Broadcom Inc. (AVGO)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60502-773B-E993-C133-E5B5BA23B853}"/>
              </a:ext>
            </a:extLst>
          </p:cNvPr>
          <p:cNvSpPr txBox="1">
            <a:spLocks/>
          </p:cNvSpPr>
          <p:nvPr/>
        </p:nvSpPr>
        <p:spPr>
          <a:xfrm>
            <a:off x="833579" y="-401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ao MN" pitchFamily="2" charset="0"/>
                <a:cs typeface="Lao MN" pitchFamily="2" charset="0"/>
              </a:rPr>
              <a:t>Recommendation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EF041-87DE-8BA2-3538-EED6C08E9D75}"/>
              </a:ext>
            </a:extLst>
          </p:cNvPr>
          <p:cNvSpPr txBox="1"/>
          <p:nvPr/>
        </p:nvSpPr>
        <p:spPr>
          <a:xfrm>
            <a:off x="1655068" y="2348312"/>
            <a:ext cx="8872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BUY    |    $475 PT    |    +19%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D9881-FE20-A385-EAE9-B26C5B4ACE96}"/>
              </a:ext>
            </a:extLst>
          </p:cNvPr>
          <p:cNvSpPr txBox="1"/>
          <p:nvPr/>
        </p:nvSpPr>
        <p:spPr>
          <a:xfrm>
            <a:off x="1655068" y="3536654"/>
            <a:ext cx="88726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68.3% probability of upside vs. $399.83 spot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Top Catalyst: Dec-2026 FY27 Guide | Top Risk: </a:t>
            </a:r>
            <a:r>
              <a:rPr lang="en-US" sz="2000" dirty="0" err="1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Hyperscaler</a:t>
            </a:r>
            <a:r>
              <a:rPr lang="en-US" sz="20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 Capex</a:t>
            </a:r>
          </a:p>
          <a:p>
            <a:pPr algn="ctr"/>
            <a:br>
              <a:rPr lang="en-US" sz="2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sz="2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Q&amp;A</a:t>
            </a:r>
          </a:p>
          <a:p>
            <a:pPr algn="ctr"/>
            <a:br>
              <a:rPr lang="en-US" sz="2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</a:br>
            <a:r>
              <a:rPr lang="en-US" sz="2400" dirty="0">
                <a:solidFill>
                  <a:schemeClr val="bg1"/>
                </a:solidFill>
                <a:latin typeface="Lao MN" pitchFamily="2" charset="0"/>
                <a:cs typeface="Lao MN" pitchFamily="2" charset="0"/>
              </a:rPr>
              <a:t>Tanishk Yadav | Martin Barreto | Ramana Sriram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66EB43-4DC9-BE44-3D97-5009FF5E8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834" y="6163204"/>
            <a:ext cx="6209520" cy="4975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F043A3-56C1-D053-7A3E-D8F6007D3247}"/>
              </a:ext>
            </a:extLst>
          </p:cNvPr>
          <p:cNvSpPr txBox="1"/>
          <p:nvPr/>
        </p:nvSpPr>
        <p:spPr>
          <a:xfrm>
            <a:off x="11487607" y="6247958"/>
            <a:ext cx="66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o MN" pitchFamily="2" charset="0"/>
                <a:cs typeface="Lao MN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034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395</TotalTime>
  <Words>940</Words>
  <Application>Microsoft Macintosh PowerPoint</Application>
  <PresentationFormat>Widescreen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Lao MN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Tanishk Yadav</dc:creator>
  <cp:lastModifiedBy>Tanishk Yadav</cp:lastModifiedBy>
  <cp:revision>3</cp:revision>
  <dcterms:created xsi:type="dcterms:W3CDTF">2026-04-30T01:32:03Z</dcterms:created>
  <dcterms:modified xsi:type="dcterms:W3CDTF">2026-04-30T08:19:18Z</dcterms:modified>
</cp:coreProperties>
</file>